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109728" cy="91440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03504"/>
            <a:ext cx="5029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7F9FC"/>
                </a:solidFill>
                <a:latin typeface="Aptos"/>
              </a:defRPr>
            </a:pPr>
            <a:r>
              <a:t>TraceMate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61872"/>
            <a:ext cx="6858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BB8C6"/>
                </a:solidFill>
                <a:latin typeface="Aptos"/>
              </a:defRPr>
            </a:pPr>
            <a:r>
              <a:t>Guided diagnostics and trace export for vehicle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39112"/>
            <a:ext cx="8138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7F9FC"/>
                </a:solidFill>
                <a:latin typeface="Aptos"/>
              </a:defRPr>
            </a:pPr>
            <a:r>
              <a:t>A focused Android workflow that connects the technician to the head unit and a headless CAPTURE_TOOL_PLACEHOLDER Mac.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63240"/>
            <a:ext cx="3200400" cy="1463040"/>
          </a:xfrm>
          <a:prstGeom prst="roundRect">
            <a:avLst/>
          </a:prstGeom>
          <a:solidFill>
            <a:srgbClr val="142334"/>
          </a:solidFill>
          <a:ln w="8255">
            <a:solidFill>
              <a:srgbClr val="5C7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063240"/>
            <a:ext cx="64008" cy="1463040"/>
          </a:xfrm>
          <a:prstGeom prst="rect">
            <a:avLst/>
          </a:prstGeom>
          <a:solidFill>
            <a:srgbClr val="2A8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64408"/>
            <a:ext cx="2788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75304"/>
            <a:ext cx="27889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Connection readiness, firewall preparation, ADB validation, and repeatable CAPTURE_TOOL_PLACEHOLDER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063240"/>
            <a:ext cx="3200400" cy="1463040"/>
          </a:xfrm>
          <a:prstGeom prst="roundRect">
            <a:avLst/>
          </a:prstGeom>
          <a:solidFill>
            <a:srgbClr val="142334"/>
          </a:solidFill>
          <a:ln w="8255">
            <a:solidFill>
              <a:srgbClr val="5C7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3063240"/>
            <a:ext cx="64008" cy="146304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264408"/>
            <a:ext cx="2788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SIMPLIFY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75304"/>
            <a:ext cx="27889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Select and export head-unit traces to a USB stick through one visible, guided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063240"/>
            <a:ext cx="3200400" cy="1463040"/>
          </a:xfrm>
          <a:prstGeom prst="roundRect">
            <a:avLst/>
          </a:prstGeom>
          <a:solidFill>
            <a:srgbClr val="142334"/>
          </a:solidFill>
          <a:ln w="8255">
            <a:solidFill>
              <a:srgbClr val="5C7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063240"/>
            <a:ext cx="64008" cy="1463040"/>
          </a:xfrm>
          <a:prstGeom prst="rect">
            <a:avLst/>
          </a:prstGeom>
          <a:solidFill>
            <a:srgbClr val="5EB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264408"/>
            <a:ext cx="2788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575304"/>
            <a:ext cx="27889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Explicit user actions, observable progress, retries, and recovery for long-running transfers.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97880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00A499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44768"/>
            <a:ext cx="5943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BB8C6"/>
                </a:solidFill>
                <a:latin typeface="Aptos"/>
              </a:defRPr>
            </a:pPr>
            <a:r>
              <a:t>Android app  |  Head unit diagnostics  |  CAPTURE_TOOL_PLACEHOLDER capture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28816"/>
            <a:ext cx="41148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BB8C6"/>
                </a:solidFill>
                <a:latin typeface="Aptos"/>
              </a:defRPr>
            </a:pPr>
            <a:r>
              <a:t>TRACEMATE  /  TECHNICAL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6528816"/>
            <a:ext cx="1737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50" b="0">
                <a:solidFill>
                  <a:srgbClr val="ABB8C6"/>
                </a:solidFill>
                <a:latin typeface="Aptos"/>
              </a:defRPr>
            </a:pPr>
            <a:r>
              <a:t>Shareable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5661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49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7F9FC"/>
                </a:solidFill>
                <a:latin typeface="Aptos"/>
              </a:defRPr>
            </a:pPr>
            <a:r>
              <a:t>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24712"/>
            <a:ext cx="10607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Two independent network paths keep vehicle diagnostics and CAPTURE_TOOL_PLACEHOLDER control deliberate and traceable.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27048"/>
            <a:ext cx="11018520" cy="22860"/>
          </a:xfrm>
          <a:prstGeom prst="rect">
            <a:avLst/>
          </a:prstGeom>
          <a:solidFill>
            <a:srgbClr val="5C7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93392"/>
            <a:ext cx="2331720" cy="1234440"/>
          </a:xfrm>
          <a:prstGeom prst="roundRect">
            <a:avLst/>
          </a:prstGeom>
          <a:solidFill>
            <a:srgbClr val="17283B"/>
          </a:solidFill>
          <a:ln w="17145">
            <a:solidFill>
              <a:srgbClr val="2A8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39696"/>
            <a:ext cx="20208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7F9FC"/>
                </a:solidFill>
                <a:latin typeface="Aptos"/>
              </a:defRPr>
            </a:pPr>
            <a:r>
              <a:t>HEAD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468880"/>
            <a:ext cx="207568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ABB8C6"/>
                </a:solidFill>
                <a:latin typeface="Aptos"/>
              </a:defRPr>
            </a:pPr>
            <a:r>
              <a:t>SSH + ADB</a:t>
            </a:r>
            <a:br/>
            <a:r>
              <a:t>WLAN hotspot</a:t>
            </a:r>
            <a:br/>
            <a:r>
              <a:t>USB host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834640"/>
            <a:ext cx="2395728" cy="1298448"/>
          </a:xfrm>
          <a:prstGeom prst="roundRect">
            <a:avLst/>
          </a:prstGeom>
          <a:solidFill>
            <a:srgbClr val="17283B"/>
          </a:solidFill>
          <a:ln w="17145">
            <a:solidFill>
              <a:srgbClr val="00A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2980944"/>
            <a:ext cx="20848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7F9FC"/>
                </a:solidFill>
                <a:latin typeface="Aptos"/>
              </a:defRPr>
            </a:pPr>
            <a:r>
              <a:t>ANDROID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5" y="3310128"/>
            <a:ext cx="2139696" cy="7040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ABB8C6"/>
                </a:solidFill>
                <a:latin typeface="Aptos"/>
              </a:defRPr>
            </a:pPr>
            <a:r>
              <a:t>TraceMate</a:t>
            </a:r>
            <a:br/>
            <a:r>
              <a:t>Workflow controller</a:t>
            </a:r>
            <a:br/>
            <a:r>
              <a:t>Visible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783080"/>
            <a:ext cx="2331720" cy="1298448"/>
          </a:xfrm>
          <a:prstGeom prst="roundRect">
            <a:avLst/>
          </a:prstGeom>
          <a:solidFill>
            <a:srgbClr val="17283B"/>
          </a:solidFill>
          <a:ln w="17145">
            <a:solidFill>
              <a:srgbClr val="5EB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1929384"/>
            <a:ext cx="20208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7F9FC"/>
                </a:solidFill>
                <a:latin typeface="Aptos"/>
              </a:defRPr>
            </a:pPr>
            <a:r>
              <a:t>MAC 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6" y="2258568"/>
            <a:ext cx="2075687" cy="7040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ABB8C6"/>
                </a:solidFill>
                <a:latin typeface="Aptos"/>
              </a:defRPr>
            </a:pPr>
            <a:r>
              <a:t>Headless CAPTURE_TOOL_PLACEHOLDER agent</a:t>
            </a:r>
            <a:br/>
            <a:r>
              <a:t>SSH / SCP endpoint</a:t>
            </a:r>
            <a:br/>
            <a:r>
              <a:t>CAPTURE_TOOL_PLACEHOLDER captures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160520"/>
            <a:ext cx="2331720" cy="1005840"/>
          </a:xfrm>
          <a:prstGeom prst="roundRect">
            <a:avLst/>
          </a:prstGeom>
          <a:solidFill>
            <a:srgbClr val="17283B"/>
          </a:solidFill>
          <a:ln w="17145">
            <a:solidFill>
              <a:srgbClr val="D6A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4306824"/>
            <a:ext cx="20208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7F9FC"/>
                </a:solidFill>
                <a:latin typeface="Aptos"/>
              </a:defRPr>
            </a:pPr>
            <a:r>
              <a:t>MOBILE_DEVICE_PLACEHOLDER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4636008"/>
            <a:ext cx="2075687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ABB8C6"/>
                </a:solidFill>
                <a:latin typeface="Aptos"/>
              </a:defRPr>
            </a:pPr>
            <a:r>
              <a:t>USB-connected to Mac</a:t>
            </a:r>
            <a:br/>
            <a:r>
              <a:t>CAPTURE_SESSION_PLACEHOLDER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2331720" cy="960120"/>
          </a:xfrm>
          <a:prstGeom prst="roundRect">
            <a:avLst/>
          </a:prstGeom>
          <a:solidFill>
            <a:srgbClr val="17283B"/>
          </a:solidFill>
          <a:ln w="17145">
            <a:solidFill>
              <a:srgbClr val="D6A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809744"/>
            <a:ext cx="20208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7F9FC"/>
                </a:solidFill>
                <a:latin typeface="Aptos"/>
              </a:defRPr>
            </a:pPr>
            <a:r>
              <a:t>USB STICK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5138927"/>
            <a:ext cx="2075687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ABB8C6"/>
                </a:solidFill>
                <a:latin typeface="Aptos"/>
              </a:defRPr>
            </a:pPr>
            <a:r>
              <a:t>Physically connected</a:t>
            </a:r>
            <a:br/>
            <a:r>
              <a:t>to head unit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17520" y="2606040"/>
            <a:ext cx="1874520" cy="722376"/>
          </a:xfrm>
          <a:prstGeom prst="line">
            <a:avLst/>
          </a:prstGeom>
          <a:ln w="15875">
            <a:solidFill>
              <a:srgbClr val="5C78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54680" y="2423160"/>
            <a:ext cx="1691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30" b="0">
                <a:solidFill>
                  <a:srgbClr val="ABB8C6"/>
                </a:solidFill>
                <a:latin typeface="Aptos"/>
              </a:defRPr>
            </a:pPr>
            <a:r>
              <a:t>WLAN hotspot  |  SSH + ADB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287768" y="2578608"/>
            <a:ext cx="1856232" cy="667512"/>
          </a:xfrm>
          <a:prstGeom prst="line">
            <a:avLst/>
          </a:prstGeom>
          <a:ln w="15875">
            <a:solidFill>
              <a:srgbClr val="5C78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0" y="2249424"/>
            <a:ext cx="1965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30" b="0">
                <a:solidFill>
                  <a:srgbClr val="ABB8C6"/>
                </a:solidFill>
                <a:latin typeface="Aptos"/>
              </a:defRPr>
            </a:pPr>
            <a:r>
              <a:t>Android Ethernet tethering  |  SSH + SCP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12680" y="3081528"/>
            <a:ext cx="137160" cy="1078992"/>
          </a:xfrm>
          <a:prstGeom prst="line">
            <a:avLst/>
          </a:prstGeom>
          <a:ln w="15875">
            <a:solidFill>
              <a:srgbClr val="5C78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287000" y="3502152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30" b="0">
                <a:solidFill>
                  <a:srgbClr val="ABB8C6"/>
                </a:solidFill>
                <a:latin typeface="Aptos"/>
              </a:defRPr>
            </a:pPr>
            <a:r>
              <a:t>USB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28800" y="3227832"/>
            <a:ext cx="0" cy="1435608"/>
          </a:xfrm>
          <a:prstGeom prst="line">
            <a:avLst/>
          </a:prstGeom>
          <a:ln w="15875">
            <a:solidFill>
              <a:srgbClr val="5C78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984248" y="3794760"/>
            <a:ext cx="822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30" b="0">
                <a:solidFill>
                  <a:srgbClr val="ABB8C6"/>
                </a:solidFill>
                <a:latin typeface="Aptos"/>
              </a:defRPr>
            </a:pPr>
            <a:r>
              <a:t>Local copy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943600"/>
            <a:ext cx="10744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30" b="0">
                <a:solidFill>
                  <a:srgbClr val="ABB8C6"/>
                </a:solidFill>
                <a:latin typeface="Aptos"/>
              </a:defRPr>
            </a:pPr>
            <a:r>
              <a:t>Store-and-forward: the Mac has no direct head-unit route. Android retrieves completed CAPTURE_TOOL_PLACEHOLDER captures, then uploads them to the head-unit USB.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41148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BB8C6"/>
                </a:solidFill>
                <a:latin typeface="Aptos"/>
              </a:defRPr>
            </a:pPr>
            <a:r>
              <a:t>TRACEMATE  /  TECHNICAL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6528816"/>
            <a:ext cx="1737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50" b="0">
                <a:solidFill>
                  <a:srgbClr val="ABB8C6"/>
                </a:solidFill>
                <a:latin typeface="Aptos"/>
              </a:defRPr>
            </a:pPr>
            <a:r>
              <a:t>Shareable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5661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4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7F9FC"/>
                </a:solidFill>
                <a:latin typeface="Aptos"/>
              </a:defRPr>
            </a:pPr>
            <a:r>
              <a:t>Automated testing and export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24712"/>
            <a:ext cx="10607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The app exposes the current readiness and next safe action instead of requiring technicians to coordinate individual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27048"/>
            <a:ext cx="11018520" cy="22860"/>
          </a:xfrm>
          <a:prstGeom prst="rect">
            <a:avLst/>
          </a:prstGeom>
          <a:solidFill>
            <a:srgbClr val="5C7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3474720" cy="3520440"/>
          </a:xfrm>
          <a:prstGeom prst="roundRect">
            <a:avLst/>
          </a:prstGeom>
          <a:solidFill>
            <a:srgbClr val="142334"/>
          </a:solidFill>
          <a:ln w="8255">
            <a:solidFill>
              <a:srgbClr val="5C7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47088"/>
            <a:ext cx="64008" cy="3520440"/>
          </a:xfrm>
          <a:prstGeom prst="rect">
            <a:avLst/>
          </a:prstGeom>
          <a:solidFill>
            <a:srgbClr val="2A8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30632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1  HEAD-UNIT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3063239" cy="2862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Connect to the head-unit WLAN via QR-guided setup.</a:t>
            </a:r>
            <a:br/>
            <a:br/>
            <a:r>
              <a:t>Automatically validate:</a:t>
            </a:r>
            <a:br/>
            <a:r>
              <a:t>SSH -&gt; scoped firewall -&gt; ADB TCP -&gt; ADB handshake -&gt; shell access.</a:t>
            </a:r>
            <a:br/>
            <a:br/>
            <a:r>
              <a:t>Display E-Release only when the connection path is 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47088"/>
            <a:ext cx="3474720" cy="3520440"/>
          </a:xfrm>
          <a:prstGeom prst="roundRect">
            <a:avLst/>
          </a:prstGeom>
          <a:solidFill>
            <a:srgbClr val="142334"/>
          </a:solidFill>
          <a:ln w="8255">
            <a:solidFill>
              <a:srgbClr val="5C7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847088"/>
            <a:ext cx="64008" cy="352044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48256"/>
            <a:ext cx="30632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2  CAPTURE_TOOL_PLACEHOLDER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59152"/>
            <a:ext cx="3063239" cy="2862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Reach the headless Mac over Android Ethernet tethering.</a:t>
            </a:r>
            <a:br/>
            <a:br/>
            <a:r>
              <a:t>Guide required manual steps: MobileDevicePlaceholder trust, Bluetooth state, and CAPTURE_SESSION_PLACEHOLDER confirmation.</a:t>
            </a:r>
            <a:br/>
            <a:br/>
            <a:r>
              <a:t>The Mac agent owns the CAPTURE_TOOL_PLACEHOLDER process and persists capture-job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847088"/>
            <a:ext cx="3474720" cy="3520440"/>
          </a:xfrm>
          <a:prstGeom prst="roundRect">
            <a:avLst/>
          </a:prstGeom>
          <a:solidFill>
            <a:srgbClr val="142334"/>
          </a:solidFill>
          <a:ln w="8255">
            <a:solidFill>
              <a:srgbClr val="5C7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847088"/>
            <a:ext cx="64008" cy="3520440"/>
          </a:xfrm>
          <a:prstGeom prst="rect">
            <a:avLst/>
          </a:prstGeom>
          <a:solidFill>
            <a:srgbClr val="5EB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048256"/>
            <a:ext cx="30632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3  USB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59152"/>
            <a:ext cx="3063239" cy="2862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Discover traces and writable USB storage on the head unit.</a:t>
            </a:r>
            <a:br/>
            <a:br/>
            <a:r>
              <a:t>Select archives, show progress, allow cancellation, and report success, partial failure, or recovery.</a:t>
            </a:r>
            <a:br/>
            <a:br/>
            <a:r>
              <a:t>Export CAPTURE_TOOL_PLACEHOLDER captures through Android store-and-forward when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79008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F7F9FC"/>
                </a:solidFill>
                <a:latin typeface="Aptos"/>
              </a:defRPr>
            </a:pPr>
            <a:r>
              <a:t>Technician value: fewer tool switches, fewer manual command sequences, and a repeatable handover of diagnostic artifacts.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28816"/>
            <a:ext cx="41148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BB8C6"/>
                </a:solidFill>
                <a:latin typeface="Aptos"/>
              </a:defRPr>
            </a:pPr>
            <a:r>
              <a:t>TRACEMATE  /  TECHNICAL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6528816"/>
            <a:ext cx="1737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50" b="0">
                <a:solidFill>
                  <a:srgbClr val="ABB8C6"/>
                </a:solidFill>
                <a:latin typeface="Aptos"/>
              </a:defRPr>
            </a:pPr>
            <a:r>
              <a:t>Shareable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5661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49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7F9FC"/>
                </a:solidFill>
                <a:latin typeface="Aptos"/>
              </a:defRPr>
            </a:pPr>
            <a:r>
              <a:t>Operational reliability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24712"/>
            <a:ext cx="10607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Automation is constrained to known workflows, with visible state and recovery for field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27048"/>
            <a:ext cx="11018520" cy="22860"/>
          </a:xfrm>
          <a:prstGeom prst="rect">
            <a:avLst/>
          </a:prstGeom>
          <a:solidFill>
            <a:srgbClr val="5C7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t>Scoped firewall rules limit ADB access to the head-unit WLAN client range.</a:t>
            </a:r>
          </a:p>
          <a:p>
            <a:pPr>
              <a:spcAft>
                <a:spcPts val="15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t>All state-changing actions require an explicit technician trigger and show progress or failure feedback.</a:t>
            </a:r>
          </a:p>
          <a:p>
            <a:pPr>
              <a:spcAft>
                <a:spcPts val="15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t>USB exports use staged partial files and atomic rename to avoid presenting incomplete archives as final output.</a:t>
            </a:r>
          </a:p>
          <a:p>
            <a:pPr>
              <a:spcAft>
                <a:spcPts val="15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t>Long-running exports continue in a foreground service and can reattach to a remote worker after app restart.</a:t>
            </a:r>
          </a:p>
          <a:p>
            <a:pPr>
              <a:spcAft>
                <a:spcPts val="15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t>The headless Mac agent allows one managed CAPTURE_TOOL_PLACEHOLDER job, preserves job state, and keeps its RPC interface loopback-only.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65376"/>
            <a:ext cx="3611880" cy="1051560"/>
          </a:xfrm>
          <a:prstGeom prst="roundRect">
            <a:avLst/>
          </a:prstGeom>
          <a:solidFill>
            <a:srgbClr val="142334"/>
          </a:solidFill>
          <a:ln w="8255">
            <a:solidFill>
              <a:srgbClr val="5C7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865376"/>
            <a:ext cx="64008" cy="105156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066544"/>
            <a:ext cx="3200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PRIMARY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77440"/>
            <a:ext cx="3200400" cy="3931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Reduce time from vehicle connection to usable trace package.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218688"/>
            <a:ext cx="3611880" cy="1051560"/>
          </a:xfrm>
          <a:prstGeom prst="roundRect">
            <a:avLst/>
          </a:prstGeom>
          <a:solidFill>
            <a:srgbClr val="142334"/>
          </a:solidFill>
          <a:ln w="8255">
            <a:solidFill>
              <a:srgbClr val="5C7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3218688"/>
            <a:ext cx="64008" cy="1051560"/>
          </a:xfrm>
          <a:prstGeom prst="rect">
            <a:avLst/>
          </a:prstGeom>
          <a:solidFill>
            <a:srgbClr val="2A8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419856"/>
            <a:ext cx="3200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SECONDARY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730752"/>
            <a:ext cx="3200400" cy="3931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Make failures actionable before a technician leaves the vehicle.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572000"/>
            <a:ext cx="3611880" cy="1051560"/>
          </a:xfrm>
          <a:prstGeom prst="roundRect">
            <a:avLst/>
          </a:prstGeom>
          <a:solidFill>
            <a:srgbClr val="142334"/>
          </a:solidFill>
          <a:ln w="8255">
            <a:solidFill>
              <a:srgbClr val="5C7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4572000"/>
            <a:ext cx="64008" cy="1051560"/>
          </a:xfrm>
          <a:prstGeom prst="rect">
            <a:avLst/>
          </a:prstGeom>
          <a:solidFill>
            <a:srgbClr val="5EB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773168"/>
            <a:ext cx="3200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CURRENT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084064"/>
            <a:ext cx="3200400" cy="3931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BB8C6"/>
                </a:solidFill>
                <a:latin typeface="Aptos"/>
              </a:defRPr>
            </a:pPr>
            <a:r>
              <a:t>Guided workflow and diagnostics; not yet a one-click production process.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943600"/>
            <a:ext cx="105613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0">
                <a:solidFill>
                  <a:srgbClr val="ABB8C6"/>
                </a:solidFill>
                <a:latin typeface="Aptos"/>
              </a:defRPr>
            </a:pPr>
            <a:r>
              <a:t>TraceMate makes complex, multi-device testing easier to operate without hiding the safety-critical steps.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28816"/>
            <a:ext cx="41148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BB8C6"/>
                </a:solidFill>
                <a:latin typeface="Aptos"/>
              </a:defRPr>
            </a:pPr>
            <a:r>
              <a:t>TRACEMATE  /  TECHNICAL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6528816"/>
            <a:ext cx="1737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50" b="0">
                <a:solidFill>
                  <a:srgbClr val="ABB8C6"/>
                </a:solidFill>
                <a:latin typeface="Aptos"/>
              </a:defRPr>
            </a:pPr>
            <a:r>
              <a:t>Shareable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TraceMate Technical Overview</dc:title>
  <dc:subject>Android, head unit, Mac mini, CAPTURE_TOOL_PLACEHOLDER, and USB trace export architecture</dc:subject>
  <dc:creator>PLACEHOLDER_AUTHOR</dc:creator>
  <cp:keywords/>
  <dc:description>Generated presentation artifact</dc:description>
  <cp:lastModifiedBy>PLACEHOLDER_AUTHOR</cp:lastModifiedBy>
  <cp:revision>1</cp:revision>
  <dcterms:created xsi:type="dcterms:W3CDTF">2013-01-27T09:14:16Z</dcterms:created>
  <dcterms:modified xsi:type="dcterms:W3CDTF">2013-01-27T09:15:58Z</dcterms:modified>
  <cp:category/>
</cp:coreProperties>
</file>